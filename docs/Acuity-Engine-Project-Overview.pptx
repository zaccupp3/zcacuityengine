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6548-0384-3C4B-19F8-7A7BBC705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4068B-B771-DFC5-F246-4A70CFFE2D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76EC4-9803-D328-53C0-E091C130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FDEF-5793-4D73-9CEB-AC39F49651A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57134-86AB-A4EF-4F35-3B1B8C4EC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7D2FA-EEFA-6E44-007D-00DB6E539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452C-CE16-42D9-8AE8-019F435FC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14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7E1E8-0165-25EA-97A9-81DA490E3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D9AC5-6344-65E6-6A99-1949C5375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E5EC9-23C0-5F0A-2210-E455C9E39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FDEF-5793-4D73-9CEB-AC39F49651A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673C3-391F-CC9B-0E2B-B63AFA7C1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E4889-01BB-8031-B5B1-3F6700D41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452C-CE16-42D9-8AE8-019F435FC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636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3E26-A9CA-6B3C-7BF1-2A4449195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68135-FC90-7743-176D-669568DC2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26CBC-98B2-AF1A-8C47-BBAA32CE5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FDEF-5793-4D73-9CEB-AC39F49651A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3A4C2-F87C-A4D2-7725-1D5DCB16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6E4FE-671D-1768-B958-0E33D62B1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452C-CE16-42D9-8AE8-019F435FC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105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4422-A84A-1804-7819-CB7940DFB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9BDE7-4F21-C063-0D7A-AE7D339DD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5F1E7B-B4E4-0AA9-B648-2A2611DB8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1463B-1025-2442-8D63-AE71CE0C5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FDEF-5793-4D73-9CEB-AC39F49651A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9F442-4D12-04A1-CFE7-5F4D922E9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4C948-2CC4-1DB5-F5DA-55CCD1ED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452C-CE16-42D9-8AE8-019F435FC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27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98E32-8F82-9BD4-A788-516BB340F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652BA-2210-B5ED-3352-A5552BAE9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5F31B-7023-872A-155F-35BC81910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03AA3A-B092-6206-0F27-18702C9960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63D35A-7D13-2912-068A-F15FA11CE7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49C22F-CA6B-48D5-C618-3E946D09A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FDEF-5793-4D73-9CEB-AC39F49651A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B2FF22-4962-2C08-A5C6-828EC5562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5F56F8-61CE-945B-78B7-07243A2F0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452C-CE16-42D9-8AE8-019F435FC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89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2E2BA-7758-E74C-51CA-BDF6E5A07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8CAB16-FD04-5025-ECB6-D1AD1F4CB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FDEF-5793-4D73-9CEB-AC39F49651A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985C4-FD3E-A097-9A41-FE9555FE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468CC-1822-8128-DDCF-3A28FF555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452C-CE16-42D9-8AE8-019F435FC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01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2863D-21E7-530D-F67F-E9C792D3C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FDEF-5793-4D73-9CEB-AC39F49651A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E05F69-A0B9-9A1E-AF44-9BDDAE8C0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05A75-67C6-847A-8D93-832E230B6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452C-CE16-42D9-8AE8-019F435FC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568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699B-C1B4-24FC-ADE2-742883C48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C9AC4-D574-02A6-A54E-89AB846FD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B1D0D-A0C1-F62D-D5B6-AF198F7BE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D76BC-52AB-412D-0C0A-BEF517B4D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FDEF-5793-4D73-9CEB-AC39F49651A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96020-AA22-4DD6-1E1C-56187A071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2D678-3007-B307-124F-57ECA6A28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452C-CE16-42D9-8AE8-019F435FC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611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3DDF3-3F93-E468-17CA-8DC95E050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AA0C9-8467-18C0-CB95-92011767D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81309-27BC-BDBE-39DE-47C5B09DC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93FAE-88E4-46DA-A12D-600D14FA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FDEF-5793-4D73-9CEB-AC39F49651A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D87A1-EEE4-A9A2-15D5-DE30F02A9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AF030-BBC1-5E91-E998-D59039A70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452C-CE16-42D9-8AE8-019F435FC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19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7B3C5-F14C-A303-CD07-AED971A00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24A5B-8231-D9C0-AF72-686DEB043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2769C-596F-5FD7-638D-6C302A07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FDEF-5793-4D73-9CEB-AC39F49651A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5DD69-4667-C72C-75A7-9FB63FC3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BA0C1-401A-61B8-F8EC-9C413AA56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452C-CE16-42D9-8AE8-019F435FC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18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BE8F6D-FB38-F002-C473-16C8F7F330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B42A2-3327-648B-7953-5E8418DC9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2F5CD-27ED-B379-725C-CFFA1DBC4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FDEF-5793-4D73-9CEB-AC39F49651A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C40D7-A7AC-4F32-19E8-BA9E04B3D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55B07-D5C6-6542-D52C-792EAFDC8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452C-CE16-42D9-8AE8-019F435FC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831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952D-9712-1B4B-F042-14C557971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30BE2-82C1-F4E8-A365-115EFE82A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7D7A1-71D2-8519-74C4-28A91ABA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FDEF-5793-4D73-9CEB-AC39F49651A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A783B-644B-C857-F298-E1820ADE3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1027E-FB12-7708-1A13-300E4723E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452C-CE16-42D9-8AE8-019F435FC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17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405448-1800-D567-61C2-92C92E0F8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4C923-ADC8-6409-5147-9B2024844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B20FA-B0B8-D1FE-3EA2-629EEB9589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BFDEF-5793-4D73-9CEB-AC39F49651A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8D51A-DABE-F5D6-FF61-A77D6F27B1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15056-CAF8-BEBD-9C03-8C2AADA22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7452C-CE16-42D9-8AE8-019F435FC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64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96CD-4683-270F-04CD-3D308689F4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Acuity Engine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1F4039-7730-4262-6D47-277A412B91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A healthcare operations platform for building safer, fairer, more visible assignments</a:t>
            </a:r>
          </a:p>
        </p:txBody>
      </p:sp>
    </p:spTree>
    <p:extLst>
      <p:ext uri="{BB962C8B-B14F-4D97-AF65-F5344CB8AC3E}">
        <p14:creationId xmlns:p14="http://schemas.microsoft.com/office/powerpoint/2010/main" val="426844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59D4A-7110-690D-A13C-78B4D13C7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What Problem It Solves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6D756-2430-E2EB-F130-20D3A857B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2600" b="1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Charge nurses still often build assignments on paper or in Excel under constant interruption.</a:t>
            </a:r>
          </a:p>
          <a:p>
            <a:r>
              <a:rPr lang="en-US" sz="2000">
                <a:latin typeface="Aptos" panose="020B0004020202020204" pitchFamily="34" charset="0"/>
              </a:rPr>
              <a:t>That process depends on memory, manual mental math, and inconsistent rule-checking.</a:t>
            </a:r>
          </a:p>
          <a:p>
            <a:r>
              <a:rPr lang="en-US" sz="2000">
                <a:latin typeface="Aptos" panose="020B0004020202020204" pitchFamily="34" charset="0"/>
              </a:rPr>
              <a:t>The result can be uneven workload, hidden acuity stacking, excess handoffs, and preventable assignment drift.</a:t>
            </a:r>
          </a:p>
          <a:p>
            <a:endParaRPr lang="en-US" sz="2600" b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661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46563-84B7-C81F-2162-654718FC6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What The Platform Does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B8016-6261-CD4B-D958-C91CC2C9F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2600" b="1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Captures staffing, patient details, acuity tags, discharge expectations, and continuity locks in one place.</a:t>
            </a:r>
          </a:p>
          <a:p>
            <a:r>
              <a:rPr lang="en-US" sz="2000">
                <a:latin typeface="Aptos" panose="020B0004020202020204" pitchFamily="34" charset="0"/>
              </a:rPr>
              <a:t>Builds live and oncoming assignments from that structured information.</a:t>
            </a:r>
          </a:p>
          <a:p>
            <a:r>
              <a:rPr lang="en-US" sz="2000">
                <a:latin typeface="Aptos" panose="020B0004020202020204" pitchFamily="34" charset="0"/>
              </a:rPr>
              <a:t>Uses a balancing engine to improve safety, fairness, continuity, room clustering, and handoff quality.</a:t>
            </a:r>
          </a:p>
          <a:p>
            <a:endParaRPr lang="en-US" sz="2600" b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21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E6BF-4F52-EB0A-F54F-96A08C364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How The Tabs Work Together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2A465-C3FF-E67B-4E9A-C0D62D920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2600" b="1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Staffing Details defines who is available.</a:t>
            </a:r>
          </a:p>
          <a:p>
            <a:r>
              <a:rPr lang="en-US" sz="2000">
                <a:latin typeface="Aptos" panose="020B0004020202020204" pitchFamily="34" charset="0"/>
              </a:rPr>
              <a:t>Patient Details captures the workload drivers.</a:t>
            </a:r>
          </a:p>
          <a:p>
            <a:r>
              <a:rPr lang="en-US" sz="2000">
                <a:latin typeface="Aptos" panose="020B0004020202020204" pitchFamily="34" charset="0"/>
              </a:rPr>
              <a:t>Live Assignments supports current-shift operations.</a:t>
            </a:r>
          </a:p>
          <a:p>
            <a:r>
              <a:rPr lang="en-US" sz="2000">
                <a:latin typeface="Aptos" panose="020B0004020202020204" pitchFamily="34" charset="0"/>
              </a:rPr>
              <a:t>Oncoming Assignments prepares the next shift with rebalancing.</a:t>
            </a:r>
          </a:p>
          <a:p>
            <a:r>
              <a:rPr lang="en-US" sz="2000">
                <a:latin typeface="Aptos" panose="020B0004020202020204" pitchFamily="34" charset="0"/>
              </a:rPr>
              <a:t>Hand-off, Pulse, and Metrics add reporting, surveillance, and retrospective insight.</a:t>
            </a:r>
          </a:p>
          <a:p>
            <a:endParaRPr lang="en-US" sz="2600" b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50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AC016-0FA4-3F18-1926-85AAFE0B2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Why It Is Better Than Paper Or Excel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9BF1-5100-4B94-0F3B-E4E0DC0A6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2600" b="1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Paper and spreadsheets document assignments, but they do not actively optimize them.</a:t>
            </a:r>
          </a:p>
          <a:p>
            <a:r>
              <a:rPr lang="en-US" sz="2000">
                <a:latin typeface="Aptos" panose="020B0004020202020204" pitchFamily="34" charset="0"/>
              </a:rPr>
              <a:t>The platform checks explicit rules repeatedly and consistently.</a:t>
            </a:r>
          </a:p>
          <a:p>
            <a:r>
              <a:rPr lang="en-US" sz="2000">
                <a:latin typeface="Aptos" panose="020B0004020202020204" pitchFamily="34" charset="0"/>
              </a:rPr>
              <a:t>It gives the whole team a shared live view instead of separate static copies.</a:t>
            </a:r>
          </a:p>
          <a:p>
            <a:r>
              <a:rPr lang="en-US" sz="2000">
                <a:latin typeface="Aptos" panose="020B0004020202020204" pitchFamily="34" charset="0"/>
              </a:rPr>
              <a:t>It can regenerate a better board when staffing or patient conditions change.</a:t>
            </a:r>
          </a:p>
          <a:p>
            <a:endParaRPr lang="en-US" sz="2600" b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624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4BAD9-2FD6-F04A-C1FB-8D0CDD76F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How The Assignment Engine Thinks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4474B-A055-F144-753D-97EECC9EB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2600" b="1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Priority order: safe assignments first, balanced patient counts second, balanced acuity-load third.</a:t>
            </a:r>
          </a:p>
          <a:p>
            <a:r>
              <a:rPr lang="en-US" sz="2000">
                <a:latin typeface="Aptos" panose="020B0004020202020204" pitchFamily="34" charset="0"/>
              </a:rPr>
              <a:t>After that it reduces report sources and tightens room spread.</a:t>
            </a:r>
          </a:p>
          <a:p>
            <a:r>
              <a:rPr lang="en-US" sz="2000">
                <a:latin typeface="Aptos" panose="020B0004020202020204" pitchFamily="34" charset="0"/>
              </a:rPr>
              <a:t>The newer engine versions search multiple candidate boards instead of relying only on one-pass local fixes.</a:t>
            </a:r>
          </a:p>
          <a:p>
            <a:endParaRPr lang="en-US" sz="2600" b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197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BC5-184F-DA26-E259-1A724F4D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Operational Value For End Users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BEE5B-D218-F356-30B0-D684D9924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2600" b="1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Reduces hidden mental workload for the charge nurse.</a:t>
            </a:r>
          </a:p>
          <a:p>
            <a:r>
              <a:rPr lang="en-US" sz="2000">
                <a:latin typeface="Aptos" panose="020B0004020202020204" pitchFamily="34" charset="0"/>
              </a:rPr>
              <a:t>Makes acuity and handoff tradeoffs more visible before finalizing assignments.</a:t>
            </a:r>
          </a:p>
          <a:p>
            <a:r>
              <a:rPr lang="en-US" sz="2000">
                <a:latin typeface="Aptos" panose="020B0004020202020204" pitchFamily="34" charset="0"/>
              </a:rPr>
              <a:t>Improves consistency when multiple people touch the assignment process across a shift change.</a:t>
            </a:r>
          </a:p>
          <a:p>
            <a:r>
              <a:rPr lang="en-US" sz="2000">
                <a:latin typeface="Aptos" panose="020B0004020202020204" pitchFamily="34" charset="0"/>
              </a:rPr>
              <a:t>Creates a clearer, more defensible assignment rationale.</a:t>
            </a:r>
          </a:p>
          <a:p>
            <a:endParaRPr lang="en-US" sz="2600" b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544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70DEC-5F52-79BC-4626-E6A80A31F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Why This Matters In Healthcare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F8574-78E4-E289-7A1D-2589473AA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2600" b="1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More consistent balancing can reduce preventable workload concentration.</a:t>
            </a:r>
          </a:p>
          <a:p>
            <a:r>
              <a:rPr lang="en-US" sz="2000">
                <a:latin typeface="Aptos" panose="020B0004020202020204" pitchFamily="34" charset="0"/>
              </a:rPr>
              <a:t>Better shared visibility can reduce confusion and assignment drift.</a:t>
            </a:r>
          </a:p>
          <a:p>
            <a:r>
              <a:rPr lang="en-US" sz="2000">
                <a:latin typeface="Aptos" panose="020B0004020202020204" pitchFamily="34" charset="0"/>
              </a:rPr>
              <a:t>Structured handoff support can reduce omission risk during report.</a:t>
            </a:r>
          </a:p>
          <a:p>
            <a:r>
              <a:rPr lang="en-US" sz="2000">
                <a:latin typeface="Aptos" panose="020B0004020202020204" pitchFamily="34" charset="0"/>
              </a:rPr>
              <a:t>The system does not replace judgment; it strengthens judgment with better operational intelligence.</a:t>
            </a:r>
          </a:p>
          <a:p>
            <a:endParaRPr lang="en-US" sz="2600" b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829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FC490-577D-4AFF-111A-35392BF97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ptos Display" panose="020B0004020202020204" pitchFamily="34" charset="0"/>
              </a:rPr>
              <a:t>Project Direction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08F76-EAE5-05C3-F485-82E080E00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2600" b="1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The product is moving from a formatting tool toward a true optimization platform.</a:t>
            </a:r>
          </a:p>
          <a:p>
            <a:r>
              <a:rPr lang="en-US" sz="2000">
                <a:latin typeface="Aptos" panose="020B0004020202020204" pitchFamily="34" charset="0"/>
              </a:rPr>
              <a:t>Current focus: stronger multi-move balancing, better acuity fairness, fewer handoffs, and tighter room clustering.</a:t>
            </a:r>
          </a:p>
          <a:p>
            <a:r>
              <a:rPr lang="en-US" sz="2000">
                <a:latin typeface="Aptos" panose="020B0004020202020204" pitchFamily="34" charset="0"/>
              </a:rPr>
              <a:t>Longer term: clearer explanations, historical learning, and more predictive operational support.</a:t>
            </a:r>
          </a:p>
          <a:p>
            <a:endParaRPr lang="en-US" sz="2600" b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908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Acuity Engine Overview</vt:lpstr>
      <vt:lpstr>What Problem It Solves</vt:lpstr>
      <vt:lpstr>What The Platform Does</vt:lpstr>
      <vt:lpstr>How The Tabs Work Together</vt:lpstr>
      <vt:lpstr>Why It Is Better Than Paper Or Excel</vt:lpstr>
      <vt:lpstr>How The Assignment Engine Thinks</vt:lpstr>
      <vt:lpstr>Operational Value For End Users</vt:lpstr>
      <vt:lpstr>Why This Matters In Healthcare</vt:lpstr>
      <vt:lpstr>Project Direction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Zachary Cupp</dc:creator>
  <cp:lastModifiedBy>Zachary Cupp</cp:lastModifiedBy>
  <cp:revision>1</cp:revision>
  <dcterms:created xsi:type="dcterms:W3CDTF">2026-03-15T11:03:56Z</dcterms:created>
  <dcterms:modified xsi:type="dcterms:W3CDTF">2026-03-15T11:03:56Z</dcterms:modified>
</cp:coreProperties>
</file>